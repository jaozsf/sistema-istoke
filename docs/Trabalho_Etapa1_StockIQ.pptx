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34AB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84648" y="1737360"/>
            <a:ext cx="18288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000" b="1">
                <a:solidFill>
                  <a:srgbClr val="534AB7"/>
                </a:solidFill>
              </a:defRPr>
            </a:pPr>
            <a:r>
              <a:t>IQ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StockIQ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0916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5E2F5"/>
                </a:solidFill>
              </a:defRPr>
            </a:pPr>
            <a:r>
              <a:t>ERP inteligente de estoque para pequenos negócios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C9C4E8"/>
                </a:solidFill>
              </a:defRPr>
            </a:pPr>
            <a:r>
              <a:t>Etapa 1 — Apresentação Inicial da Empresa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1A19"/>
                </a:solidFill>
              </a:defRPr>
            </a:pPr>
            <a:r>
              <a:t>Quem somos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A1A19"/>
                </a:solidFill>
              </a:defRPr>
            </a:pPr>
            <a:r>
              <a:t>Nome fantasia: StockIQ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800">
                <a:solidFill>
                  <a:srgbClr val="534AB7"/>
                </a:solidFill>
              </a:rPr>
              <a:t>Segmento:  </a:t>
            </a:r>
            <a:r>
              <a:rPr sz="1800">
                <a:solidFill>
                  <a:srgbClr val="1A1A19"/>
                </a:solidFill>
              </a:rPr>
              <a:t>software (ERP SaaS) para gestão de estoque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534AB7"/>
                </a:solidFill>
              </a:rPr>
              <a:t>Fundação:  </a:t>
            </a:r>
            <a:r>
              <a:rPr sz="1800">
                <a:solidFill>
                  <a:srgbClr val="1A1A19"/>
                </a:solidFill>
              </a:rPr>
              <a:t>2026, como projeto acadêmico transformado em produto real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534AB7"/>
                </a:solidFill>
              </a:rPr>
              <a:t>Identidade visual:  </a:t>
            </a:r>
            <a:r>
              <a:rPr sz="1800">
                <a:solidFill>
                  <a:srgbClr val="1A1A19"/>
                </a:solidFill>
              </a:rPr>
              <a:t>roxo #534AB7 — tecnologia, confiança e clareza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4"/>
                </a:solidFill>
              </a:defRPr>
            </a:pPr>
            <a:r>
              <a:t>StockIQ · Etapa 1 — Apresentação Inicial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1A19"/>
                </a:solidFill>
              </a:defRPr>
            </a:pPr>
            <a:r>
              <a:t>Missão, Visão e Valores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700">
                <a:solidFill>
                  <a:srgbClr val="534AB7"/>
                </a:solidFill>
              </a:rPr>
              <a:t>Missão:  </a:t>
            </a:r>
            <a:r>
              <a:rPr sz="1700">
                <a:solidFill>
                  <a:srgbClr val="1A1A19"/>
                </a:solidFill>
              </a:rPr>
              <a:t>dar a pequenos e médios negócios o mesmo controle de estoque que só grandes empresas têm hoje — simples, rápido e sem planilha.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534AB7"/>
                </a:solidFill>
              </a:rPr>
              <a:t>Visão:  </a:t>
            </a:r>
            <a:r>
              <a:rPr sz="1700">
                <a:solidFill>
                  <a:srgbClr val="1A1A19"/>
                </a:solidFill>
              </a:rPr>
              <a:t>ser o ERP padrão de quem vende produto físico e cansou de perder dinheiro sem saber onde.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534AB7"/>
                </a:solidFill>
              </a:rPr>
              <a:t>Valores:  </a:t>
            </a:r>
            <a:r>
              <a:rPr sz="1700">
                <a:solidFill>
                  <a:srgbClr val="1A1A19"/>
                </a:solidFill>
              </a:rPr>
              <a:t>simplicidade antes de feature nova · dado real antes de achismo · preço justo para quem tá começando.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4"/>
                </a:solidFill>
              </a:defRPr>
            </a:pPr>
            <a:r>
              <a:t>StockIQ · Etapa 1 — Apresentação Inicial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1A19"/>
                </a:solidFill>
              </a:defRPr>
            </a:pPr>
            <a:r>
              <a:t>Equipe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103120"/>
            <a:ext cx="2468880" cy="2377440"/>
          </a:xfrm>
          <a:prstGeom prst="roundRect">
            <a:avLst/>
          </a:prstGeom>
          <a:solidFill>
            <a:srgbClr val="F5F5F0"/>
          </a:solidFill>
          <a:ln w="12700">
            <a:solidFill>
              <a:srgbClr val="E8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54480" y="2377440"/>
            <a:ext cx="914400" cy="914400"/>
          </a:xfrm>
          <a:prstGeom prst="ellipse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42900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A1A19"/>
                </a:solidFill>
              </a:defRPr>
            </a:pPr>
            <a:r>
              <a:t>Matheus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534AB7"/>
                </a:solidFill>
              </a:defRPr>
            </a:pPr>
            <a:r>
              <a:t>CEO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103120"/>
            <a:ext cx="2468880" cy="2377440"/>
          </a:xfrm>
          <a:prstGeom prst="roundRect">
            <a:avLst/>
          </a:prstGeom>
          <a:solidFill>
            <a:srgbClr val="F5F5F0"/>
          </a:solidFill>
          <a:ln w="12700">
            <a:solidFill>
              <a:srgbClr val="E8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43400" y="2377440"/>
            <a:ext cx="914400" cy="914400"/>
          </a:xfrm>
          <a:prstGeom prst="ellipse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42900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A1A19"/>
                </a:solidFill>
              </a:defRPr>
            </a:pPr>
            <a:r>
              <a:t>João Bazarin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84048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534AB7"/>
                </a:solidFill>
              </a:defRPr>
            </a:pPr>
            <a:r>
              <a:t>CTO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103120"/>
            <a:ext cx="2468880" cy="2377440"/>
          </a:xfrm>
          <a:prstGeom prst="roundRect">
            <a:avLst/>
          </a:prstGeom>
          <a:solidFill>
            <a:srgbClr val="F5F5F0"/>
          </a:solidFill>
          <a:ln w="12700">
            <a:solidFill>
              <a:srgbClr val="E8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0" y="2377440"/>
            <a:ext cx="914400" cy="914400"/>
          </a:xfrm>
          <a:prstGeom prst="ellipse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42900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A1A19"/>
                </a:solidFill>
              </a:defRPr>
            </a:pPr>
            <a:r>
              <a:t>Otávio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84048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534AB7"/>
                </a:solidFill>
              </a:defRPr>
            </a:pPr>
            <a:r>
              <a:t>Product Manager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2103120"/>
            <a:ext cx="2468880" cy="2377440"/>
          </a:xfrm>
          <a:prstGeom prst="roundRect">
            <a:avLst/>
          </a:prstGeom>
          <a:solidFill>
            <a:srgbClr val="F5F5F0"/>
          </a:solidFill>
          <a:ln w="12700">
            <a:solidFill>
              <a:srgbClr val="E8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2377440"/>
            <a:ext cx="914400" cy="914400"/>
          </a:xfrm>
          <a:prstGeom prst="ellipse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42900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A1A19"/>
                </a:solidFill>
              </a:defRPr>
            </a:pPr>
            <a:r>
              <a:t>Giovani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84048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534AB7"/>
                </a:solidFill>
              </a:defRPr>
            </a:pPr>
            <a:r>
              <a:t>Dev / QA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4"/>
                </a:solidFill>
              </a:defRPr>
            </a:pPr>
            <a:r>
              <a:t>StockIQ · Etapa 1 — Apresentação Inicial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1A19"/>
                </a:solidFill>
              </a:defRPr>
            </a:pPr>
            <a:r>
              <a:t>Área de atuação e mercado-alvo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800">
                <a:solidFill>
                  <a:srgbClr val="534AB7"/>
                </a:solidFill>
              </a:rPr>
              <a:t>Segmento:  </a:t>
            </a:r>
            <a:r>
              <a:rPr sz="1800">
                <a:solidFill>
                  <a:srgbClr val="1A1A19"/>
                </a:solidFill>
              </a:rPr>
              <a:t>software de gestão (ERP) — módulo de estoque, financeiro básico e IA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534AB7"/>
                </a:solidFill>
              </a:rPr>
              <a:t>Cliente-alvo:  </a:t>
            </a:r>
            <a:r>
              <a:rPr sz="1800">
                <a:solidFill>
                  <a:srgbClr val="1A1A19"/>
                </a:solidFill>
              </a:rPr>
              <a:t>pequenos negócios com produto físico em caixa/lote — distribuidoras, lojas, indústrias de pequeno porte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534AB7"/>
                </a:solidFill>
              </a:rPr>
              <a:t>Caso piloto real:  </a:t>
            </a:r>
            <a:r>
              <a:rPr sz="1800">
                <a:solidFill>
                  <a:srgbClr val="1A1A19"/>
                </a:solidFill>
              </a:rPr>
              <a:t>distribuidora de copos e canecas acrílicas, controle por caixa fechada de 50 unidades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534AB7"/>
                </a:solidFill>
              </a:rPr>
              <a:t>Tamanho do problema:  </a:t>
            </a:r>
            <a:r>
              <a:rPr sz="1800">
                <a:solidFill>
                  <a:srgbClr val="1A1A19"/>
                </a:solidFill>
              </a:rPr>
              <a:t>maioria desses negócios ainda controla estoque em planilha ou caderno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4"/>
                </a:solidFill>
              </a:defRPr>
            </a:pPr>
            <a:r>
              <a:t>StockIQ · Etapa 1 — Apresentação Inicial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1A19"/>
                </a:solidFill>
              </a:defRPr>
            </a:pPr>
            <a:r>
              <a:t>Ideia inicial do produto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A1A19"/>
                </a:solidFill>
              </a:defRPr>
            </a:pPr>
            <a:r>
              <a:t>StockIQ — ERP com controle de estoque via QR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A19"/>
                </a:solidFill>
              </a:defRPr>
            </a:pPr>
            <a:r>
              <a:t>•  App (web + mobile) onde cada produto tem um QR Code próprio</a:t>
            </a:r>
          </a:p>
          <a:p>
            <a:pPr>
              <a:spcAft>
                <a:spcPts val="1000"/>
              </a:spcAft>
              <a:defRPr sz="1800">
                <a:solidFill>
                  <a:srgbClr val="1A1A19"/>
                </a:solidFill>
              </a:defRPr>
            </a:pPr>
            <a:r>
              <a:t>•  Escanear a caixa já registra a movimentação de estoque na hora</a:t>
            </a:r>
          </a:p>
          <a:p>
            <a:pPr>
              <a:spcAft>
                <a:spcPts val="1000"/>
              </a:spcAft>
              <a:defRPr sz="1800">
                <a:solidFill>
                  <a:srgbClr val="1A1A19"/>
                </a:solidFill>
              </a:defRPr>
            </a:pPr>
            <a:r>
              <a:t>•  Dashboard mostra saldo real, receita e lucro do dia — sem planilha</a:t>
            </a:r>
          </a:p>
          <a:p>
            <a:pPr>
              <a:spcAft>
                <a:spcPts val="1000"/>
              </a:spcAft>
              <a:defRPr sz="1800">
                <a:solidFill>
                  <a:srgbClr val="1A1A19"/>
                </a:solidFill>
              </a:defRPr>
            </a:pPr>
            <a:r>
              <a:t>•  Assistente respondese perguntas do negócio ('onde tô perdendo dinheiro?') na hora</a:t>
            </a:r>
          </a:p>
          <a:p>
            <a:pPr>
              <a:spcAft>
                <a:spcPts val="1000"/>
              </a:spcAft>
              <a:defRPr sz="1800">
                <a:solidFill>
                  <a:srgbClr val="1A1A19"/>
                </a:solidFill>
              </a:defRPr>
            </a:pPr>
            <a:r>
              <a:t>•  Login simples: e-mail/senha ou Google, acesso controlado por permissão (admin/gerente/operador)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4"/>
                </a:solidFill>
              </a:defRPr>
            </a:pPr>
            <a:r>
              <a:t>StockIQ · Etapa 1 — Apresentação Inicial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1A19"/>
                </a:solidFill>
              </a:defRPr>
            </a:pPr>
            <a:r>
              <a:t>Problema a ser resolvido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A19"/>
                </a:solidFill>
              </a:defRPr>
            </a:pPr>
            <a:r>
              <a:t>•  Contagem de estoque manual: demorada e sujeita a erro humano</a:t>
            </a:r>
          </a:p>
          <a:p>
            <a:pPr>
              <a:spcAft>
                <a:spcPts val="1000"/>
              </a:spcAft>
              <a:defRPr sz="1800">
                <a:solidFill>
                  <a:srgbClr val="1A1A19"/>
                </a:solidFill>
              </a:defRPr>
            </a:pPr>
            <a:r>
              <a:t>•  Sem visibilidade de margem real por produto — preço definido "no olho"</a:t>
            </a:r>
          </a:p>
          <a:p>
            <a:pPr>
              <a:spcAft>
                <a:spcPts val="1000"/>
              </a:spcAft>
              <a:defRPr sz="1800">
                <a:solidFill>
                  <a:srgbClr val="1A1A19"/>
                </a:solidFill>
              </a:defRPr>
            </a:pPr>
            <a:r>
              <a:t>•  Estoque baixo só é percebido quando o produto já acabou</a:t>
            </a:r>
          </a:p>
          <a:p>
            <a:pPr>
              <a:spcAft>
                <a:spcPts val="1000"/>
              </a:spcAft>
              <a:defRPr sz="1800">
                <a:solidFill>
                  <a:srgbClr val="1A1A19"/>
                </a:solidFill>
              </a:defRPr>
            </a:pPr>
            <a:r>
              <a:t>•  Nenhum registro de quem retirou o quê, quando e por quê</a:t>
            </a:r>
          </a:p>
          <a:p>
            <a:pPr>
              <a:spcAft>
                <a:spcPts val="1000"/>
              </a:spcAft>
              <a:defRPr sz="1800">
                <a:solidFill>
                  <a:srgbClr val="1A1A19"/>
                </a:solidFill>
              </a:defRPr>
            </a:pPr>
            <a:r>
              <a:t>•  Ferramentas de ERP grandes são caras e complexas demais pra esse porte de negócio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4"/>
                </a:solidFill>
              </a:defRPr>
            </a:pPr>
            <a:r>
              <a:t>StockIQ · Etapa 1 — Apresentação Inicial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1A19"/>
                </a:solidFill>
              </a:defRPr>
            </a:pPr>
            <a:r>
              <a:t>Tecnologias previstas (stack)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534AB7"/>
                </a:solidFill>
              </a:defRPr>
            </a:pPr>
            <a:r>
              <a:t>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19"/>
                </a:solidFill>
              </a:defRPr>
            </a:pPr>
            <a:r>
              <a:t>•  FastAPI + Python</a:t>
            </a:r>
          </a:p>
          <a:p>
            <a:pPr>
              <a:spcAft>
                <a:spcPts val="800"/>
              </a:spcAft>
              <a:defRPr sz="1500">
                <a:solidFill>
                  <a:srgbClr val="1A1A19"/>
                </a:solidFill>
              </a:defRPr>
            </a:pPr>
            <a:r>
              <a:t>•  PostgreSQL + SQLAlchemy (async)</a:t>
            </a:r>
          </a:p>
          <a:p>
            <a:pPr>
              <a:spcAft>
                <a:spcPts val="800"/>
              </a:spcAft>
              <a:defRPr sz="1500">
                <a:solidFill>
                  <a:srgbClr val="1A1A19"/>
                </a:solidFill>
              </a:defRPr>
            </a:pPr>
            <a:r>
              <a:t>•  Alembic (migrações)</a:t>
            </a:r>
          </a:p>
          <a:p>
            <a:pPr>
              <a:spcAft>
                <a:spcPts val="800"/>
              </a:spcAft>
              <a:defRPr sz="1500">
                <a:solidFill>
                  <a:srgbClr val="1A1A19"/>
                </a:solidFill>
              </a:defRPr>
            </a:pPr>
            <a:r>
              <a:t>•  Docker + Docker Compose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146304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534AB7"/>
                </a:solidFill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196596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19"/>
                </a:solidFill>
              </a:defRPr>
            </a:pPr>
            <a:r>
              <a:t>•  Flutter (web, Android, iOS)</a:t>
            </a:r>
          </a:p>
          <a:p>
            <a:pPr>
              <a:spcAft>
                <a:spcPts val="800"/>
              </a:spcAft>
              <a:defRPr sz="1500">
                <a:solidFill>
                  <a:srgbClr val="1A1A19"/>
                </a:solidFill>
              </a:defRPr>
            </a:pPr>
            <a:r>
              <a:t>•  Riverpod (estado)</a:t>
            </a:r>
          </a:p>
          <a:p>
            <a:pPr>
              <a:spcAft>
                <a:spcPts val="800"/>
              </a:spcAft>
              <a:defRPr sz="1500">
                <a:solidFill>
                  <a:srgbClr val="1A1A19"/>
                </a:solidFill>
              </a:defRPr>
            </a:pPr>
            <a:r>
              <a:t>•  go_router (navegação)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46304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534AB7"/>
                </a:solidFill>
              </a:defRPr>
            </a:pPr>
            <a:r>
              <a:t>Plataforma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96596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19"/>
                </a:solidFill>
              </a:defRPr>
            </a:pPr>
            <a:r>
              <a:t>•  Firebase Auth (e-mail + Google)</a:t>
            </a:r>
          </a:p>
          <a:p>
            <a:pPr>
              <a:spcAft>
                <a:spcPts val="800"/>
              </a:spcAft>
              <a:defRPr sz="1500">
                <a:solidFill>
                  <a:srgbClr val="1A1A19"/>
                </a:solidFill>
              </a:defRPr>
            </a:pPr>
            <a:r>
              <a:t>•  JWT interno</a:t>
            </a:r>
          </a:p>
          <a:p>
            <a:pPr>
              <a:spcAft>
                <a:spcPts val="800"/>
              </a:spcAft>
              <a:defRPr sz="1500">
                <a:solidFill>
                  <a:srgbClr val="1A1A19"/>
                </a:solidFill>
              </a:defRPr>
            </a:pPr>
            <a:r>
              <a:t>•  QR Code (geração + leitura)</a:t>
            </a:r>
          </a:p>
          <a:p>
            <a:pPr>
              <a:spcAft>
                <a:spcPts val="800"/>
              </a:spcAft>
              <a:defRPr sz="1500">
                <a:solidFill>
                  <a:srgbClr val="1A1A19"/>
                </a:solidFill>
              </a:defRPr>
            </a:pPr>
            <a:r>
              <a:t>•  IA: respostas padrão + Claude (Anthropic) opcional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4"/>
                </a:solidFill>
              </a:defRPr>
            </a:pPr>
            <a:r>
              <a:t>StockIQ · Etapa 1 — Apresentação Inicial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1A19"/>
                </a:solidFill>
              </a:defRPr>
            </a:pPr>
            <a:r>
              <a:t>Diferencial competitivo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800">
                <a:solidFill>
                  <a:srgbClr val="534AB7"/>
                </a:solidFill>
              </a:rPr>
              <a:t>Movimentação por QR Code:  </a:t>
            </a:r>
            <a:r>
              <a:rPr sz="1800">
                <a:solidFill>
                  <a:srgbClr val="1A1A19"/>
                </a:solidFill>
              </a:rPr>
              <a:t>escaneou, já baixou/subiu o estoque — sem digitar nada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534AB7"/>
                </a:solidFill>
              </a:rPr>
              <a:t>IA sem custo pra maioria das perguntas:  </a:t>
            </a:r>
            <a:r>
              <a:rPr sz="1800">
                <a:solidFill>
                  <a:srgbClr val="1A1A19"/>
                </a:solidFill>
              </a:rPr>
              <a:t>padrões comuns (estoque baixo, produto parado, prejuízo) respondem na hora com dado real, sem gastar API de IA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534AB7"/>
                </a:solidFill>
              </a:rPr>
              <a:t>Multi-plataforma desde o dia 1:  </a:t>
            </a:r>
            <a:r>
              <a:rPr sz="1800">
                <a:solidFill>
                  <a:srgbClr val="1A1A19"/>
                </a:solidFill>
              </a:rPr>
              <a:t>mesmo código roda em navegador, Android e iOS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534AB7"/>
                </a:solidFill>
              </a:rPr>
              <a:t>Preço acessível:  </a:t>
            </a:r>
            <a:r>
              <a:rPr sz="1800">
                <a:solidFill>
                  <a:srgbClr val="1A1A19"/>
                </a:solidFill>
              </a:rPr>
              <a:t>pensado pra pequeno negócio, não pra corporação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4"/>
                </a:solidFill>
              </a:defRPr>
            </a:pPr>
            <a:r>
              <a:t>StockIQ · Etapa 1 — Apresentação Inicial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1A19"/>
                </a:solidFill>
              </a:defRPr>
            </a:pPr>
            <a:r>
              <a:t>Cronograma macro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737360"/>
            <a:ext cx="320040" cy="32004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66420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A1A19"/>
                </a:solidFill>
              </a:defRPr>
            </a:pPr>
            <a:r>
              <a:t>Etapa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66420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4"/>
                </a:solidFill>
              </a:defRPr>
            </a:pPr>
            <a:r>
              <a:t>Apresentação da empresa e ideia (agora)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91540" y="2057400"/>
            <a:ext cx="0" cy="731520"/>
          </a:xfrm>
          <a:prstGeom prst="line">
            <a:avLst/>
          </a:prstGeom>
          <a:ln w="25400">
            <a:solidFill>
              <a:srgbClr val="D8D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731520" y="2788920"/>
            <a:ext cx="320040" cy="320040"/>
          </a:xfrm>
          <a:prstGeom prst="ellipse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71576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A1A19"/>
                </a:solidFill>
              </a:defRPr>
            </a:pPr>
            <a:r>
              <a:t>Etapa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71576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4"/>
                </a:solidFill>
              </a:defRPr>
            </a:pPr>
            <a:r>
              <a:t>MVP funcional: cadastro de produto, estoque, QR Code, login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91540" y="3108960"/>
            <a:ext cx="0" cy="731520"/>
          </a:xfrm>
          <a:prstGeom prst="line">
            <a:avLst/>
          </a:prstGeom>
          <a:ln w="25400">
            <a:solidFill>
              <a:srgbClr val="D8D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31520" y="3840480"/>
            <a:ext cx="320040" cy="320040"/>
          </a:xfrm>
          <a:prstGeom prst="ellipse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76732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A1A19"/>
                </a:solidFill>
              </a:defRPr>
            </a:pPr>
            <a:r>
              <a:t>Etapa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76732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4"/>
                </a:solidFill>
              </a:defRPr>
            </a:pPr>
            <a:r>
              <a:t>Financeiro, dashboard com dados reais, testes com usuário piloto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91540" y="4160520"/>
            <a:ext cx="0" cy="731520"/>
          </a:xfrm>
          <a:prstGeom prst="line">
            <a:avLst/>
          </a:prstGeom>
          <a:ln w="25400">
            <a:solidFill>
              <a:srgbClr val="D8D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31520" y="4892040"/>
            <a:ext cx="320040" cy="320040"/>
          </a:xfrm>
          <a:prstGeom prst="ellipse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81888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A1A19"/>
                </a:solidFill>
              </a:defRPr>
            </a:pPr>
            <a:r>
              <a:t>Etapa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81888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4"/>
                </a:solidFill>
              </a:defRPr>
            </a:pPr>
            <a:r>
              <a:t>IA, relatórios em PDF, ajustes finais e entrega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4"/>
                </a:solidFill>
              </a:defRPr>
            </a:pPr>
            <a:r>
              <a:t>StockIQ · Etapa 1 — Apresentação Inicial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34AB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Obrigado!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E5E2F5"/>
                </a:solidFill>
              </a:defRPr>
            </a:pPr>
            <a:r>
              <a:t>Perguntas? Matheus (CEO) · João Bazarin (CTO) · Otávio (PM) · Giovani (Dev/QA)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